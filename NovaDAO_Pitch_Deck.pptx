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457200"/>
            <a:ext cx="2743200" cy="2743200"/>
          </a:xfrm>
          <a:prstGeom prst="ellipse">
            <a:avLst/>
          </a:prstGeom>
          <a:solidFill>
            <a:srgbClr val="0F62FE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657600" y="914400"/>
            <a:ext cx="1828800" cy="1828800"/>
          </a:xfrm>
          <a:prstGeom prst="ellipse">
            <a:avLst/>
          </a:prstGeom>
          <a:solidFill>
            <a:srgbClr val="4589FF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731520"/>
            <a:ext cx="1463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458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NovaDAO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Market-Governed Organizations on Stellar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4023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to Stellar Development Foundation — March 2026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0" y="4663440"/>
            <a:ext cx="2743200" cy="36576"/>
          </a:xfrm>
          <a:prstGeom prst="rect">
            <a:avLst/>
          </a:prstGeom>
          <a:solidFill>
            <a:srgbClr val="0F62F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Crypto Fundraising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Broken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840480" cy="123444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2194560"/>
            <a:ext cx="411480" cy="411480"/>
          </a:xfrm>
          <a:prstGeom prst="ellipse">
            <a:avLst/>
          </a:prstGeom>
          <a:solidFill>
            <a:srgbClr val="F1C21B">
              <a:alpha val="25000"/>
            </a:srgbClr>
          </a:solidFill>
          <a:ln w="12700">
            <a:solidFill>
              <a:srgbClr val="F1C2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194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1C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234440" y="214884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 Favoritism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34440" y="25146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VCs and insiders get preferential access, leaving retail investors behind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2011680"/>
            <a:ext cx="3840480" cy="123444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2194560"/>
            <a:ext cx="411480" cy="411480"/>
          </a:xfrm>
          <a:prstGeom prst="ellipse">
            <a:avLst/>
          </a:prstGeom>
          <a:solidFill>
            <a:srgbClr val="FA4D56">
              <a:alpha val="25000"/>
            </a:srgbClr>
          </a:solidFill>
          <a:ln w="12700">
            <a:solidFill>
              <a:srgbClr val="FA4D5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2194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A4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49240" y="214884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Price Pressure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349240" y="25146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float / high FDV launches create inevitable sell pressure from token unlocks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3840480" cy="123444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85800" y="3611880"/>
            <a:ext cx="411480" cy="411480"/>
          </a:xfrm>
          <a:prstGeom prst="ellipse">
            <a:avLst/>
          </a:prstGeom>
          <a:solidFill>
            <a:srgbClr val="FA4D56">
              <a:alpha val="25000"/>
            </a:srgbClr>
          </a:solidFill>
          <a:ln w="12700">
            <a:solidFill>
              <a:srgbClr val="FA4D5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611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A4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✖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234440" y="35661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Rug Pulls &amp; Fraud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34440" y="393192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accountability mechanisms — teams can vanish with raised funds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3429000"/>
            <a:ext cx="3840480" cy="123444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00600" y="3611880"/>
            <a:ext cx="411480" cy="411480"/>
          </a:xfrm>
          <a:prstGeom prst="ellipse">
            <a:avLst/>
          </a:prstGeom>
          <a:solidFill>
            <a:srgbClr val="5A7A9E">
              <a:alpha val="25000"/>
            </a:srgbClr>
          </a:solidFill>
          <a:ln w="12700">
            <a:solidFill>
              <a:srgbClr val="5A7A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3611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349240" y="35661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Voter Apathy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349240" y="393192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DAO governance sees &lt;5% participation rates on critical proposals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NovaDAO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fundraising and governance platform that uses prediction markets (futarchy) to make better decisions — built on Stellar.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2560320" cy="246888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103120"/>
            <a:ext cx="2560320" cy="54864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8" name="Shape 6"/>
          <p:cNvSpPr/>
          <p:nvPr/>
        </p:nvSpPr>
        <p:spPr>
          <a:xfrm>
            <a:off x="1417320" y="2377440"/>
            <a:ext cx="640080" cy="640080"/>
          </a:xfrm>
          <a:prstGeom prst="ellipse">
            <a:avLst/>
          </a:prstGeom>
          <a:solidFill>
            <a:srgbClr val="4589FF">
              <a:alpha val="25000"/>
            </a:srgbClr>
          </a:solidFill>
          <a:ln w="12700">
            <a:solidFill>
              <a:srgbClr val="4589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1732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154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Launch ICOs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3520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participation, equal pricing, community-first distribution with rug protection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83280" y="2103120"/>
            <a:ext cx="2560320" cy="246888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83280" y="2103120"/>
            <a:ext cx="2560320" cy="54864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14" name="Shape 12"/>
          <p:cNvSpPr/>
          <p:nvPr/>
        </p:nvSpPr>
        <p:spPr>
          <a:xfrm>
            <a:off x="4251960" y="2377440"/>
            <a:ext cx="640080" cy="640080"/>
          </a:xfrm>
          <a:prstGeom prst="ellipse">
            <a:avLst/>
          </a:prstGeom>
          <a:solidFill>
            <a:srgbClr val="4589FF">
              <a:alpha val="25000"/>
            </a:srgbClr>
          </a:solidFill>
          <a:ln w="12700">
            <a:solidFill>
              <a:srgbClr val="4589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66160" y="3154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Governance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66160" y="3520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markets replace voting — financial incentives ensure better decisions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2103120"/>
            <a:ext cx="2560320" cy="246888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2103120"/>
            <a:ext cx="2560320" cy="54864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20" name="Shape 18"/>
          <p:cNvSpPr/>
          <p:nvPr/>
        </p:nvSpPr>
        <p:spPr>
          <a:xfrm>
            <a:off x="7086600" y="2377440"/>
            <a:ext cx="640080" cy="640080"/>
          </a:xfrm>
          <a:prstGeom prst="ellipse">
            <a:avLst/>
          </a:prstGeom>
          <a:solidFill>
            <a:srgbClr val="4589FF">
              <a:alpha val="25000"/>
            </a:srgbClr>
          </a:solidFill>
          <a:ln w="12700">
            <a:solidFill>
              <a:srgbClr val="4589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8660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0" y="3154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Alignment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0" y="3520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IP, treasury, and token minting governed by markets — teams can't extract value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Fundraising Flow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640080" cy="640080"/>
          </a:xfrm>
          <a:prstGeom prst="ellipse">
            <a:avLst/>
          </a:prstGeom>
          <a:solidFill>
            <a:srgbClr val="0F62F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33272" y="2286000"/>
            <a:ext cx="36576" cy="411480"/>
          </a:xfrm>
          <a:prstGeom prst="rect">
            <a:avLst/>
          </a:prstGeom>
          <a:solidFill>
            <a:srgbClr val="1A3050"/>
          </a:solidFill>
          <a:ln/>
        </p:spPr>
      </p:sp>
      <p:sp>
        <p:nvSpPr>
          <p:cNvPr id="8" name="Shape 6"/>
          <p:cNvSpPr/>
          <p:nvPr/>
        </p:nvSpPr>
        <p:spPr>
          <a:xfrm>
            <a:off x="1645920" y="1554480"/>
            <a:ext cx="6949440" cy="86868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74520" y="1554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XLM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874520" y="192024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participate over 4 days at equal pricing. If the raise doesn't hit minimum, everyone gets refunded automatically.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697480"/>
            <a:ext cx="640080" cy="640080"/>
          </a:xfrm>
          <a:prstGeom prst="ellipse">
            <a:avLst/>
          </a:prstGeom>
          <a:solidFill>
            <a:srgbClr val="4589FF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697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033272" y="3337560"/>
            <a:ext cx="36576" cy="411480"/>
          </a:xfrm>
          <a:prstGeom prst="rect">
            <a:avLst/>
          </a:prstGeom>
          <a:solidFill>
            <a:srgbClr val="1A3050"/>
          </a:solidFill>
          <a:ln/>
        </p:spPr>
      </p:sp>
      <p:sp>
        <p:nvSpPr>
          <p:cNvPr id="14" name="Shape 12"/>
          <p:cNvSpPr/>
          <p:nvPr/>
        </p:nvSpPr>
        <p:spPr>
          <a:xfrm>
            <a:off x="1645920" y="2606040"/>
            <a:ext cx="6949440" cy="86868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7452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Responsibly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874520" y="297180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receive monthly budgets. Larger expenditures and new token issuance require approval from decision markets.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3749040"/>
            <a:ext cx="640080" cy="640080"/>
          </a:xfrm>
          <a:prstGeom prst="ellipse">
            <a:avLst/>
          </a:prstGeom>
          <a:solidFill>
            <a:srgbClr val="78A9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645920" y="3657600"/>
            <a:ext cx="6949440" cy="86868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74520" y="3657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Together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874520" y="402336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structuring aligns tokenholders and teams. Market oversight over IP and revenue links the business to the token.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Futarchy: Bet on Beliefs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proposal, two conditional markets are created. Traders put real money behind their predictions.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840480" cy="182880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828800"/>
            <a:ext cx="3840480" cy="54864"/>
          </a:xfrm>
          <a:prstGeom prst="rect">
            <a:avLst/>
          </a:prstGeom>
          <a:solidFill>
            <a:srgbClr val="42BE65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2BE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Market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23774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Traders buy PASS tokens if they believe the proposal will </a:t>
            </a:r>
            <a:pPr indent="0" marL="0">
              <a:buNone/>
            </a:pPr>
            <a:r>
              <a:rPr lang="en-US" sz="1200" b="1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</a:t>
            </a:r>
            <a:pPr indent="0" marL="0">
              <a:buNone/>
            </a:pPr>
            <a:r>
              <a:rPr lang="en-US" sz="12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project's token value.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2BE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$1.24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2296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price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828800"/>
            <a:ext cx="3840480" cy="182880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828800"/>
            <a:ext cx="3840480" cy="54864"/>
          </a:xfrm>
          <a:prstGeom prst="rect">
            <a:avLst/>
          </a:prstGeom>
          <a:solidFill>
            <a:srgbClr val="FA4D56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4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Market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29200" y="23774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Traders buy FAIL tokens if they believe the proposal will </a:t>
            </a:r>
            <a:pPr indent="0" marL="0">
              <a:buNone/>
            </a:pPr>
            <a:r>
              <a:rPr lang="en-US" sz="1200" b="1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decrease</a:t>
            </a:r>
            <a:pPr indent="0" marL="0">
              <a:buNone/>
            </a:pPr>
            <a:r>
              <a:rPr lang="en-US" sz="12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project's token value.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0" y="29718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A4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$1.08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502920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price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886200"/>
            <a:ext cx="8046720" cy="594360"/>
          </a:xfrm>
          <a:prstGeom prst="rect">
            <a:avLst/>
          </a:prstGeom>
          <a:solidFill>
            <a:srgbClr val="0F62FE">
              <a:alpha val="15000"/>
            </a:srgbClr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88620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8A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PASS trades 3%+ higher than FAIL (TWAP), the proposal auto-executes. No voter apathy. Pure market signal.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STELLAR?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Stellar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840480" cy="118872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5544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589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920240" y="1554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Finality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920240" y="1874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confirmation in seconds, not minutes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3840480" cy="118872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589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~$0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035040" y="1554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035040" y="1874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fees (~0.00001 XLM) enable frequent trading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840480" cy="118872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29260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589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DEX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92024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920240" y="3246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order book DEX — perfect for prediction markets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3840480" cy="118872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846320" y="29260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589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SCP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03504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035040" y="3246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Stellar Consensus Protocol — energy efficient &amp; secure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069080"/>
            <a:ext cx="8046720" cy="457200"/>
          </a:xfrm>
          <a:prstGeom prst="rect">
            <a:avLst/>
          </a:prstGeom>
          <a:solidFill>
            <a:srgbClr val="0F62FE">
              <a:alpha val="12000"/>
            </a:srgbClr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0690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8A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Soroban smart contracts — Stellar's Rust-based VM for complex on-chain logic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Massive TAM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560320" cy="128016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5544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89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$24B+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 Treasury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(2025)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463040"/>
            <a:ext cx="2560320" cy="128016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0" y="15544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89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$55B+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3832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Market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(2025)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2560320" cy="128016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17920" y="15544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89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300+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1792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DAOs on Stellar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2971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vs Stellar Ecosystem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8046720" cy="1188720"/>
        </p:xfrm>
        <a:graphic>
          <a:graphicData uri="http://schemas.openxmlformats.org/drawingml/2006/table">
            <a:tbl>
              <a:tblPr/>
              <a:tblGrid>
                <a:gridCol w="2286000"/>
                <a:gridCol w="2880360"/>
                <a:gridCol w="28803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A7A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58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Futarchy Platform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MetaDAO ($33M+)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2BE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NovaDAO (First!)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Avg. Tx Fee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$0.02 - $0.05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2BE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$0.000001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Settlement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~400ms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 seconds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Validated by MetaDAO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MetaDAO on Solana has proven futarchy governance works. We bring this model to Stellar.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874520" cy="109728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9202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589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$33M+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Raised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51760" y="1828800"/>
            <a:ext cx="1874520" cy="109728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51760" y="19202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589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51760" y="24231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Launched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828800"/>
            <a:ext cx="1874520" cy="109728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9202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589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54880" y="24231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Proposals Resolved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0" y="1828800"/>
            <a:ext cx="1874520" cy="109728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0" y="19202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589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858000" y="24231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Since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NovaDAO Status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8640" y="3611880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2BE65"/>
                </a:solidFill>
              </a:rPr>
              <a:t>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" y="361188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design &amp; architecture complete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17920" y="36118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2BE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3904488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589FF"/>
                </a:solidFill>
              </a:rPr>
              <a:t>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" y="390448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Soroban smart contract development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17920" y="39044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4197096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589FF"/>
                </a:solidFill>
              </a:rPr>
              <a:t>●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" y="4197096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building — 2,500+ early waitlist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17920" y="41970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4489704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589FF"/>
                </a:solidFill>
              </a:rPr>
              <a:t>●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960" y="4489704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founding projects in pipeline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44897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Sustainable Revenue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548640" cy="548640"/>
          </a:xfrm>
          <a:prstGeom prst="ellipse">
            <a:avLst/>
          </a:prstGeom>
          <a:solidFill>
            <a:srgbClr val="4589FF">
              <a:alpha val="25000"/>
            </a:srgbClr>
          </a:solidFill>
          <a:ln w="12700">
            <a:solidFill>
              <a:srgbClr val="4589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15087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589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2-3%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743200" y="1508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Fee on Raises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432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of funds raised through NovaDAO ICOs goes to the platform treasury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468880"/>
            <a:ext cx="8046720" cy="82296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2606040"/>
            <a:ext cx="548640" cy="548640"/>
          </a:xfrm>
          <a:prstGeom prst="ellipse">
            <a:avLst/>
          </a:prstGeom>
          <a:solidFill>
            <a:srgbClr val="4589FF">
              <a:alpha val="25000"/>
            </a:srgbClr>
          </a:solidFill>
          <a:ln w="12700">
            <a:solidFill>
              <a:srgbClr val="4589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25146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589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0.5%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74320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Fees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743200" y="2834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fee on every decision market trade — conditional PASS/FAIL token swaps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474720"/>
            <a:ext cx="8046720" cy="82296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3611880"/>
            <a:ext cx="548640" cy="548640"/>
          </a:xfrm>
          <a:prstGeom prst="ellipse">
            <a:avLst/>
          </a:prstGeom>
          <a:solidFill>
            <a:srgbClr val="4589FF">
              <a:alpha val="25000"/>
            </a:srgbClr>
          </a:solidFill>
          <a:ln w="12700">
            <a:solidFill>
              <a:srgbClr val="4589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3520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589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SaaS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2743200" y="3520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Futarchy-as-a-Service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74320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futarchy governance for other Stellar DAOs and protocols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solidFill>
            <a:srgbClr val="0F62FE">
              <a:alpha val="12000"/>
            </a:srgbClr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1605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8A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Year 1 Revenue: $800K–$1.5M (based on $30M+ platform volume)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Mover on Stellar</a:t>
            </a:r>
            <a:endParaRPr lang="en-US" sz="3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3200400"/>
        </p:xfrm>
        <a:graphic>
          <a:graphicData uri="http://schemas.openxmlformats.org/drawingml/2006/table">
            <a:tbl>
              <a:tblPr/>
              <a:tblGrid>
                <a:gridCol w="1463040"/>
                <a:gridCol w="1645920"/>
                <a:gridCol w="1645920"/>
                <a:gridCol w="1645920"/>
                <a:gridCol w="16459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A7A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NovaDAO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2FE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A7A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MetaDAO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A7A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A7A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Aragon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58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Multi-chain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Futarchy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2BE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2BE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A4D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A4D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Fundraising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2BE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2BE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A4D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2BE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Tx Fees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2BE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$0.02+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(off-chain)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A4D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$2-10+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2BE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seconds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Off-chain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12+ seconds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DEX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2BE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BA3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(Openbook)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7A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A4D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 Plan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8046720" cy="36576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6" name="Shape 4"/>
          <p:cNvSpPr/>
          <p:nvPr/>
        </p:nvSpPr>
        <p:spPr>
          <a:xfrm>
            <a:off x="1280160" y="2194560"/>
            <a:ext cx="274320" cy="274320"/>
          </a:xfrm>
          <a:prstGeom prst="ellipse">
            <a:avLst/>
          </a:prstGeom>
          <a:solidFill>
            <a:srgbClr val="0F62F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916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6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1874520" cy="192024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432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310896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Soroban contracts audit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launch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test raise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2194560"/>
            <a:ext cx="274320" cy="274320"/>
          </a:xfrm>
          <a:prstGeom prst="ellipse">
            <a:avLst/>
          </a:prstGeom>
          <a:solidFill>
            <a:srgbClr val="4589FF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6916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651760" y="2651760"/>
            <a:ext cx="1874520" cy="192024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8920" y="27432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788920" y="310896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platform launch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founding projects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market V2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0" y="2194560"/>
            <a:ext cx="274320" cy="274320"/>
          </a:xfrm>
          <a:prstGeom prst="ellipse">
            <a:avLst/>
          </a:prstGeom>
          <a:solidFill>
            <a:srgbClr val="78A9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6916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8A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54880" y="2651760"/>
            <a:ext cx="1874520" cy="192024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27432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92040" y="310896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FaaS rollout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projects live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partners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89520" y="2194560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6916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858000" y="2651760"/>
            <a:ext cx="1874520" cy="192024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95160" y="27432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995160" y="310896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Cross-chain bridges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anchors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5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Team Behind NovaDAO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874520" cy="274320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1783080"/>
            <a:ext cx="868680" cy="868680"/>
          </a:xfrm>
          <a:prstGeom prst="ellipse">
            <a:avLst/>
          </a:prstGeom>
          <a:solidFill>
            <a:srgbClr val="0F62FE">
              <a:alpha val="40000"/>
            </a:srgbClr>
          </a:solidFill>
          <a:ln w="12700">
            <a:solidFill>
              <a:srgbClr val="4589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7830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8346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31089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&amp; Founder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33832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Ex-DeFi Protocol Lead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8+ years in blockchain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651760" y="1554480"/>
            <a:ext cx="1874520" cy="274320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783080"/>
            <a:ext cx="868680" cy="868680"/>
          </a:xfrm>
          <a:prstGeom prst="ellipse">
            <a:avLst/>
          </a:prstGeom>
          <a:solidFill>
            <a:srgbClr val="0F62FE">
              <a:alpha val="40000"/>
            </a:srgbClr>
          </a:solidFill>
          <a:ln w="12700">
            <a:solidFill>
              <a:srgbClr val="4589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4680" y="17830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788920" y="28346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[CTO Name]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788920" y="31089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88920" y="33832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Soroban Core Contributor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Ex-Stellar Core Team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1554480"/>
            <a:ext cx="1874520" cy="274320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57800" y="1783080"/>
            <a:ext cx="868680" cy="868680"/>
          </a:xfrm>
          <a:prstGeom prst="ellipse">
            <a:avLst/>
          </a:prstGeom>
          <a:solidFill>
            <a:srgbClr val="0F62FE">
              <a:alpha val="40000"/>
            </a:srgbClr>
          </a:solidFill>
          <a:ln w="12700">
            <a:solidFill>
              <a:srgbClr val="4589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57800" y="17830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892040" y="28346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[Research Lead]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31089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Research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92040" y="33832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Futarchy &amp; Governance Expert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 Economics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0" y="1554480"/>
            <a:ext cx="1874520" cy="274320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360920" y="1783080"/>
            <a:ext cx="868680" cy="868680"/>
          </a:xfrm>
          <a:prstGeom prst="ellipse">
            <a:avLst/>
          </a:prstGeom>
          <a:solidFill>
            <a:srgbClr val="0F62FE">
              <a:alpha val="40000"/>
            </a:srgbClr>
          </a:solidFill>
          <a:ln w="12700">
            <a:solidFill>
              <a:srgbClr val="4589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60920" y="17830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995160" y="28346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[BD Name]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95160" y="31089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Lead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95160" y="33832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Stellar Ecosystem Partnerships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Ex-SDF Programs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Partnership with SDF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4589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$500K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Request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0" y="1463040"/>
            <a:ext cx="1874520" cy="137160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12080" y="1554480"/>
            <a:ext cx="502920" cy="502920"/>
          </a:xfrm>
          <a:prstGeom prst="ellipse">
            <a:avLst/>
          </a:prstGeom>
          <a:solidFill>
            <a:srgbClr val="4589FF">
              <a:alpha val="25000"/>
            </a:srgbClr>
          </a:solidFill>
          <a:ln w="12700">
            <a:solidFill>
              <a:srgbClr val="4589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12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63440" y="205740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Grant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63440" y="22860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 to fund 12 months of smart contract development, audits, and team expansion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675120" y="1463040"/>
            <a:ext cx="1874520" cy="137160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0" y="1554480"/>
            <a:ext cx="502920" cy="502920"/>
          </a:xfrm>
          <a:prstGeom prst="ellipse">
            <a:avLst/>
          </a:prstGeom>
          <a:solidFill>
            <a:srgbClr val="4589FF">
              <a:alpha val="25000"/>
            </a:srgbClr>
          </a:solidFill>
          <a:ln w="12700">
            <a:solidFill>
              <a:srgbClr val="4589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766560" y="205740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Support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766560" y="22860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listing on Stellar ecosystem page and co-marketing with SDF channels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0" y="3017520"/>
            <a:ext cx="1874520" cy="137160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12080" y="3108960"/>
            <a:ext cx="502920" cy="502920"/>
          </a:xfrm>
          <a:prstGeom prst="ellipse">
            <a:avLst/>
          </a:prstGeom>
          <a:solidFill>
            <a:srgbClr val="4589FF">
              <a:alpha val="25000"/>
            </a:srgbClr>
          </a:solidFill>
          <a:ln w="12700">
            <a:solidFill>
              <a:srgbClr val="4589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663440" y="361188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Partnership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38404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access to Soroban team for integration support and protocol optimization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675120" y="3017520"/>
            <a:ext cx="1874520" cy="1371600"/>
          </a:xfrm>
          <a:prstGeom prst="rect">
            <a:avLst/>
          </a:prstGeom>
          <a:solidFill>
            <a:srgbClr val="0E1D33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0" y="3108960"/>
            <a:ext cx="502920" cy="502920"/>
          </a:xfrm>
          <a:prstGeom prst="ellipse">
            <a:avLst/>
          </a:prstGeom>
          <a:solidFill>
            <a:srgbClr val="4589FF">
              <a:alpha val="25000"/>
            </a:srgbClr>
          </a:solidFill>
          <a:ln w="12700">
            <a:solidFill>
              <a:srgbClr val="4589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766560" y="361188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Support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66560" y="38404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announcement, event sponsorship, and introductions to Stellar anchors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731520"/>
            <a:ext cx="2743200" cy="2743200"/>
          </a:xfrm>
          <a:prstGeom prst="ellipse">
            <a:avLst/>
          </a:prstGeom>
          <a:solidFill>
            <a:srgbClr val="0F62FE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840480" y="914400"/>
            <a:ext cx="1463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458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B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 the future of decentralized governance on Stellar.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37490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novadao.xyz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926080" y="37490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926080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@NovaDAO_xyz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54880" y="37490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t.me/novadao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0" y="37490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583680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58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hello@novadao.xyz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0" y="4480560"/>
            <a:ext cx="2743200" cy="36576"/>
          </a:xfrm>
          <a:prstGeom prst="rect">
            <a:avLst/>
          </a:prstGeom>
          <a:solidFill>
            <a:srgbClr val="0F62FE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572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NovaDAO — March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NovaDAO — Pitch to Stellar Development Foundation</dc:title>
  <dc:subject>PptxGenJS Presentation</dc:subject>
  <dc:creator>NovaDAO</dc:creator>
  <cp:lastModifiedBy>NovaDAO</cp:lastModifiedBy>
  <cp:revision>1</cp:revision>
  <dcterms:created xsi:type="dcterms:W3CDTF">2026-03-10T23:24:44Z</dcterms:created>
  <dcterms:modified xsi:type="dcterms:W3CDTF">2026-03-10T23:24:44Z</dcterms:modified>
</cp:coreProperties>
</file>